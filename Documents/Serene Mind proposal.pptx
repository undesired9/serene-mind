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30" r:id="rId1"/>
  </p:sldMasterIdLst>
  <p:notesMasterIdLst>
    <p:notesMasterId r:id="rId23"/>
  </p:notesMasterIdLst>
  <p:sldIdLst>
    <p:sldId id="256" r:id="rId2"/>
    <p:sldId id="257" r:id="rId3"/>
    <p:sldId id="258" r:id="rId4"/>
    <p:sldId id="260" r:id="rId5"/>
    <p:sldId id="259" r:id="rId6"/>
    <p:sldId id="269" r:id="rId7"/>
    <p:sldId id="261" r:id="rId8"/>
    <p:sldId id="262" r:id="rId9"/>
    <p:sldId id="270" r:id="rId10"/>
    <p:sldId id="263" r:id="rId11"/>
    <p:sldId id="264" r:id="rId12"/>
    <p:sldId id="277" r:id="rId13"/>
    <p:sldId id="265" r:id="rId14"/>
    <p:sldId id="266" r:id="rId15"/>
    <p:sldId id="271" r:id="rId16"/>
    <p:sldId id="272" r:id="rId17"/>
    <p:sldId id="267" r:id="rId18"/>
    <p:sldId id="268" r:id="rId19"/>
    <p:sldId id="273" r:id="rId20"/>
    <p:sldId id="274" r:id="rId21"/>
    <p:sldId id="276" r:id="rId22"/>
  </p:sldIdLst>
  <p:sldSz cx="9144000" cy="6858000" type="screen4x3"/>
  <p:notesSz cx="7315200" cy="96012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15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80" d="100"/>
          <a:sy n="80" d="100"/>
        </p:scale>
        <p:origin x="1522" y="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170238" cy="48101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143375" y="0"/>
            <a:ext cx="3170238" cy="48101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EA5D948-F771-4C92-84A8-4EC0E68850FB}" type="datetimeFigureOut">
              <a:rPr lang="en-US" smtClean="0"/>
              <a:t>2/16/2026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497013" y="1200150"/>
            <a:ext cx="4321175" cy="32400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31838" y="4621213"/>
            <a:ext cx="5851525" cy="37798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120188"/>
            <a:ext cx="3170238" cy="48101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143375" y="9120188"/>
            <a:ext cx="3170238" cy="48101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228D40B-0B90-4FFC-8EFA-B2EBF4A2B9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33920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0" i="0" dirty="0">
                <a:solidFill>
                  <a:srgbClr val="EBF1FF"/>
                </a:solidFill>
                <a:effectLst/>
                <a:latin typeface="Google Sans"/>
              </a:rPr>
              <a:t>General Data Protection Regulation</a:t>
            </a:r>
            <a:br>
              <a:rPr lang="en-US" b="0" i="0" dirty="0">
                <a:solidFill>
                  <a:srgbClr val="EBF1FF"/>
                </a:solidFill>
                <a:effectLst/>
                <a:latin typeface="Google Sans"/>
              </a:rPr>
            </a:br>
            <a:r>
              <a:rPr lang="en-US" b="0" i="0" dirty="0">
                <a:solidFill>
                  <a:srgbClr val="EBF1FF"/>
                </a:solidFill>
                <a:effectLst/>
                <a:latin typeface="Google Sans"/>
              </a:rPr>
              <a:t>Health Insurance Portability and Accountability Act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228D40B-0B90-4FFC-8EFA-B2EBF4A2B91B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589314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EB62FDA-C3A1-4485-94ED-8D5328978C71}" type="datetimeFigureOut">
              <a:rPr lang="en-US"/>
              <a:pPr>
                <a:defRPr/>
              </a:pPr>
              <a:t>2/16/2026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38A8F7E-26DE-43B8-861F-88D6AF6B6EA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45134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D8807AF-0B8F-471E-BA59-6B19150596A0}" type="datetimeFigureOut">
              <a:rPr lang="en-US"/>
              <a:pPr>
                <a:defRPr/>
              </a:pPr>
              <a:t>2/16/2026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6360B40-061E-4F84-BA61-C2718CEB928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17355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03F4994-0678-42BF-89BB-2A2111B35EC2}" type="datetimeFigureOut">
              <a:rPr lang="en-US"/>
              <a:pPr>
                <a:defRPr/>
              </a:pPr>
              <a:t>2/16/2026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2806023-F377-4656-8959-B78E94F885E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27402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179BFE4-6C92-46A8-952F-57A802E8789E}" type="datetimeFigureOut">
              <a:rPr lang="en-US"/>
              <a:pPr>
                <a:defRPr/>
              </a:pPr>
              <a:t>2/16/2026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C023BD5-857C-4627-8055-65D381668FE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93933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10472BC-7C78-4A03-9929-F499D30448A0}" type="datetimeFigureOut">
              <a:rPr lang="en-US"/>
              <a:pPr>
                <a:defRPr/>
              </a:pPr>
              <a:t>2/16/2026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0CBC86D-773F-43FE-8E4D-65D76D8E08D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58654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C4A73C6-0042-455E-8B2F-75B2189B5283}" type="datetimeFigureOut">
              <a:rPr lang="en-US"/>
              <a:pPr>
                <a:defRPr/>
              </a:pPr>
              <a:t>2/16/2026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285154C-27AA-41D7-A83F-562448F81A6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67921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45F7CCB-C2F4-44F8-A1ED-76504DF8BDBC}" type="datetimeFigureOut">
              <a:rPr lang="en-US"/>
              <a:pPr>
                <a:defRPr/>
              </a:pPr>
              <a:t>2/16/2026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E9D0B81-D738-47BD-B272-501509EDC67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45043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05D84C3-2DCE-4BE0-9311-8CB1C190C7E8}" type="datetimeFigureOut">
              <a:rPr lang="en-US"/>
              <a:pPr>
                <a:defRPr/>
              </a:pPr>
              <a:t>2/16/2026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BA14EB9-794F-4DAA-84E7-248B4BED029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2762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3D5DE9F-D025-4A96-9436-A9B54598C24A}" type="datetimeFigureOut">
              <a:rPr lang="en-US"/>
              <a:pPr>
                <a:defRPr/>
              </a:pPr>
              <a:t>2/16/2026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08E42D6-2A26-479A-9B16-2F701678AE2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16068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DF9D5E0-4F80-4C37-BE2D-2254170079DA}" type="datetimeFigureOut">
              <a:rPr lang="en-US"/>
              <a:pPr>
                <a:defRPr/>
              </a:pPr>
              <a:t>2/16/2026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EC21C67-2251-4F43-AF36-005A94535C9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30237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F1E8BB8-8D90-489A-8AF2-46E7BE23BAFA}" type="datetimeFigureOut">
              <a:rPr lang="en-US"/>
              <a:pPr>
                <a:defRPr/>
              </a:pPr>
              <a:t>2/16/2026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2494F58-CD59-4AA2-8C1F-6EBD5A9D75B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34070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A63F3F4-13F2-4143-9618-08A48950E4B2}" type="datetimeFigureOut">
              <a:rPr lang="en-US"/>
              <a:pPr>
                <a:defRPr/>
              </a:pPr>
              <a:t>2/16/2026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59A044B-FC12-4343-995C-1E329064C69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31" r:id="rId1"/>
    <p:sldLayoutId id="2147483832" r:id="rId2"/>
    <p:sldLayoutId id="2147483833" r:id="rId3"/>
    <p:sldLayoutId id="2147483834" r:id="rId4"/>
    <p:sldLayoutId id="2147483835" r:id="rId5"/>
    <p:sldLayoutId id="2147483836" r:id="rId6"/>
    <p:sldLayoutId id="2147483837" r:id="rId7"/>
    <p:sldLayoutId id="2147483838" r:id="rId8"/>
    <p:sldLayoutId id="2147483839" r:id="rId9"/>
    <p:sldLayoutId id="2147483840" r:id="rId10"/>
    <p:sldLayoutId id="2147483841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eaLnBrk="1" hangingPunct="1"/>
            <a:r>
              <a:rPr lang="en-US" dirty="0"/>
              <a:t>Final Year Project Proposal</a:t>
            </a:r>
          </a:p>
        </p:txBody>
      </p:sp>
      <p:sp>
        <p:nvSpPr>
          <p:cNvPr id="5123" name="Subtitle 2"/>
          <p:cNvSpPr>
            <a:spLocks noGrp="1"/>
          </p:cNvSpPr>
          <p:nvPr>
            <p:ph type="subTitle" idx="1"/>
          </p:nvPr>
        </p:nvSpPr>
        <p:spPr>
          <a:xfrm>
            <a:off x="1371600" y="3810000"/>
            <a:ext cx="6553200" cy="2590800"/>
          </a:xfrm>
        </p:spPr>
        <p:txBody>
          <a:bodyPr rtlCol="0">
            <a:normAutofit fontScale="85000" lnSpcReduction="20000"/>
          </a:bodyPr>
          <a:lstStyle/>
          <a:p>
            <a:pPr marL="63500" eaLnBrk="1" fontAlgn="auto" hangingPunct="1"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US" sz="3300" dirty="0">
                <a:solidFill>
                  <a:schemeClr val="tx1"/>
                </a:solidFill>
              </a:rPr>
              <a:t>Serene Mind</a:t>
            </a:r>
          </a:p>
          <a:p>
            <a:pPr marL="63500" eaLnBrk="1" fontAlgn="auto" hangingPunct="1">
              <a:spcAft>
                <a:spcPts val="0"/>
              </a:spcAft>
              <a:buFont typeface="Arial" pitchFamily="34" charset="0"/>
              <a:buNone/>
              <a:defRPr/>
            </a:pPr>
            <a:endParaRPr lang="en-US" sz="2800" dirty="0">
              <a:solidFill>
                <a:schemeClr val="tx1"/>
              </a:solidFill>
            </a:endParaRPr>
          </a:p>
          <a:p>
            <a:pPr marL="63500" eaLnBrk="1" fontAlgn="auto" hangingPunct="1"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US" sz="3000" dirty="0">
                <a:solidFill>
                  <a:schemeClr val="tx1"/>
                </a:solidFill>
              </a:rPr>
              <a:t> </a:t>
            </a:r>
            <a:r>
              <a:rPr lang="en-GB" sz="3000" dirty="0">
                <a:solidFill>
                  <a:schemeClr val="tx1"/>
                </a:solidFill>
              </a:rPr>
              <a:t>An AI-Powered Therapist for Intelligent Mental Health Support</a:t>
            </a:r>
          </a:p>
          <a:p>
            <a:pPr marL="63500" eaLnBrk="1" fontAlgn="auto" hangingPunct="1">
              <a:spcAft>
                <a:spcPts val="0"/>
              </a:spcAft>
              <a:buFont typeface="Arial" pitchFamily="34" charset="0"/>
              <a:buNone/>
              <a:defRPr/>
            </a:pPr>
            <a:endParaRPr lang="en-US" sz="2800" dirty="0">
              <a:solidFill>
                <a:schemeClr val="tx1"/>
              </a:solidFill>
            </a:endParaRPr>
          </a:p>
          <a:p>
            <a:pPr marL="63500" eaLnBrk="1" fontAlgn="auto" hangingPunct="1"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US" sz="1700" dirty="0">
                <a:solidFill>
                  <a:schemeClr val="tx1"/>
                </a:solidFill>
              </a:rPr>
              <a:t>Supervisor: Sir  Uzair Rasheed</a:t>
            </a:r>
          </a:p>
          <a:p>
            <a:pPr marL="63500" eaLnBrk="1" fontAlgn="auto" hangingPunct="1"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US" sz="1700" dirty="0">
                <a:solidFill>
                  <a:schemeClr val="tx1"/>
                </a:solidFill>
              </a:rPr>
              <a:t>Department:  BS software engineering</a:t>
            </a:r>
          </a:p>
          <a:p>
            <a:pPr marL="63500" eaLnBrk="1" fontAlgn="auto" hangingPunct="1"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US" sz="1500" dirty="0">
                <a:solidFill>
                  <a:schemeClr val="tx1"/>
                </a:solidFill>
              </a:rPr>
              <a:t> </a:t>
            </a:r>
          </a:p>
        </p:txBody>
      </p:sp>
      <p:pic>
        <p:nvPicPr>
          <p:cNvPr id="2052" name="Picture 3" descr="Riphah.jpg"/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3033" t="4065" r="6926" b="4926"/>
          <a:stretch>
            <a:fillRect/>
          </a:stretch>
        </p:blipFill>
        <p:spPr bwMode="auto">
          <a:xfrm>
            <a:off x="4076700" y="1295400"/>
            <a:ext cx="990600" cy="1295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Project Team</a:t>
            </a:r>
          </a:p>
        </p:txBody>
      </p:sp>
      <p:sp>
        <p:nvSpPr>
          <p:cNvPr id="3075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dirty="0"/>
              <a:t>Abdullah Zahid (44890)</a:t>
            </a:r>
          </a:p>
          <a:p>
            <a:pPr eaLnBrk="1" hangingPunct="1"/>
            <a:r>
              <a:rPr lang="en-US" dirty="0"/>
              <a:t>Mian Muhammad Hashir(46451)</a:t>
            </a:r>
          </a:p>
          <a:p>
            <a:pPr marL="0" indent="0" eaLnBrk="1" hangingPunct="1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Table of Content</a:t>
            </a:r>
          </a:p>
        </p:txBody>
      </p:sp>
      <p:sp>
        <p:nvSpPr>
          <p:cNvPr id="4099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dirty="0"/>
              <a:t>Opportunity &amp; Stakeholders</a:t>
            </a:r>
          </a:p>
          <a:p>
            <a:pPr eaLnBrk="1" hangingPunct="1"/>
            <a:r>
              <a:rPr lang="en-US" dirty="0"/>
              <a:t>Existing Systems</a:t>
            </a:r>
          </a:p>
          <a:p>
            <a:pPr eaLnBrk="1" hangingPunct="1"/>
            <a:r>
              <a:rPr lang="en-US" dirty="0"/>
              <a:t>Problem Statement</a:t>
            </a:r>
          </a:p>
          <a:p>
            <a:pPr eaLnBrk="1" hangingPunct="1"/>
            <a:r>
              <a:rPr lang="en-US" dirty="0"/>
              <a:t>Proposed Solution</a:t>
            </a:r>
          </a:p>
          <a:p>
            <a:pPr eaLnBrk="1" hangingPunct="1"/>
            <a:r>
              <a:rPr lang="en-US" dirty="0"/>
              <a:t>Project Scope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dirty="0"/>
              <a:t>Opportunity &amp; Stakeholders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 eaLnBrk="1" hangingPunct="1"/>
            <a:r>
              <a:rPr lang="en-GB" sz="3600" b="1" dirty="0"/>
              <a:t>Opportunity</a:t>
            </a:r>
            <a:endParaRPr lang="en-US" dirty="0"/>
          </a:p>
        </p:txBody>
      </p:sp>
      <p:sp>
        <p:nvSpPr>
          <p:cNvPr id="6147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GB" sz="2800" dirty="0"/>
              <a:t>Growing number of people needing mental health support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2800" dirty="0"/>
              <a:t>Limited availability of therapists and psychologists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2800" dirty="0"/>
              <a:t>High cost of traditional therapy sessions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2800" dirty="0"/>
              <a:t>Increasing trust in digital health platforms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2800" dirty="0"/>
              <a:t>Advances in AI-based conversational systems</a:t>
            </a:r>
          </a:p>
          <a:p>
            <a:pPr eaLnBrk="1" hangingPunct="1"/>
            <a:endParaRPr lang="en-US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 eaLnBrk="1" hangingPunct="1"/>
            <a:r>
              <a:rPr lang="en-US" dirty="0"/>
              <a:t>Stakeholders</a:t>
            </a:r>
          </a:p>
        </p:txBody>
      </p:sp>
      <p:sp>
        <p:nvSpPr>
          <p:cNvPr id="6147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GB" sz="2400" dirty="0"/>
              <a:t>Users / Patients</a:t>
            </a:r>
          </a:p>
          <a:p>
            <a:pPr marL="0" indent="0" eaLnBrk="1" hangingPunct="1">
              <a:buNone/>
            </a:pPr>
            <a:r>
              <a:rPr lang="en-GB" sz="2400" dirty="0"/>
              <a:t>People seeking emotional and mental health support.</a:t>
            </a:r>
          </a:p>
          <a:p>
            <a:pPr eaLnBrk="1" hangingPunct="1"/>
            <a:r>
              <a:rPr lang="en-GB" sz="2400" dirty="0"/>
              <a:t>Doctors / Psychologists</a:t>
            </a:r>
          </a:p>
          <a:p>
            <a:pPr marL="0" indent="0" eaLnBrk="1" hangingPunct="1">
              <a:buNone/>
            </a:pPr>
            <a:r>
              <a:rPr lang="en-GB" sz="2400" dirty="0"/>
              <a:t>Licensed professionals who review severe cases escalated by the system.</a:t>
            </a:r>
          </a:p>
          <a:p>
            <a:pPr eaLnBrk="1" hangingPunct="1"/>
            <a:r>
              <a:rPr lang="en-GB" sz="2400" dirty="0"/>
              <a:t>Administrators</a:t>
            </a:r>
          </a:p>
          <a:p>
            <a:pPr marL="0" indent="0" eaLnBrk="1" hangingPunct="1">
              <a:buNone/>
            </a:pPr>
            <a:r>
              <a:rPr lang="en-GB" sz="2400" dirty="0"/>
              <a:t>Manage system operations, subscriptions, and data security.</a:t>
            </a:r>
          </a:p>
          <a:p>
            <a:pPr eaLnBrk="1" hangingPunct="1"/>
            <a:r>
              <a:rPr lang="en-GB" sz="2400" dirty="0"/>
              <a:t>Healthcare Authorities &amp; Regulators</a:t>
            </a:r>
          </a:p>
          <a:p>
            <a:pPr marL="0" indent="0" eaLnBrk="1" hangingPunct="1">
              <a:buNone/>
            </a:pPr>
            <a:r>
              <a:rPr lang="en-GB" sz="2400" dirty="0"/>
              <a:t>Ensure compliance with GDPR, HIPAA, and ethical standards.</a:t>
            </a:r>
          </a:p>
          <a:p>
            <a:pPr marL="0" indent="0" eaLnBrk="1" hangingPunct="1">
              <a:buNone/>
            </a:pP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14736090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dirty="0"/>
              <a:t>Existing Systems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 eaLnBrk="1" hangingPunct="1"/>
            <a:r>
              <a:rPr lang="en-US" dirty="0"/>
              <a:t>Existing Systems</a:t>
            </a:r>
          </a:p>
        </p:txBody>
      </p:sp>
      <p:sp>
        <p:nvSpPr>
          <p:cNvPr id="8195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Several AI-based mental health applications already exist in the market, including: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 err="1"/>
              <a:t>Woebot</a:t>
            </a:r>
            <a:endParaRPr lang="en-GB" dirty="0"/>
          </a:p>
          <a:p>
            <a:pPr>
              <a:buFont typeface="Arial" panose="020B0604020202020204" pitchFamily="34" charset="0"/>
              <a:buChar char="•"/>
            </a:pPr>
            <a:r>
              <a:rPr lang="en-GB" dirty="0" err="1"/>
              <a:t>Wysa</a:t>
            </a:r>
            <a:endParaRPr lang="en-GB" dirty="0"/>
          </a:p>
          <a:p>
            <a:pPr>
              <a:buFont typeface="Arial" panose="020B0604020202020204" pitchFamily="34" charset="0"/>
              <a:buChar char="•"/>
            </a:pPr>
            <a:r>
              <a:rPr lang="en-GB" dirty="0" err="1"/>
              <a:t>Replika</a:t>
            </a:r>
            <a:endParaRPr lang="en-GB" dirty="0"/>
          </a:p>
          <a:p>
            <a:r>
              <a:rPr lang="en-GB" dirty="0"/>
              <a:t>These systems mainly provide chatbot-based emotional support and self-help guidance.</a:t>
            </a:r>
          </a:p>
          <a:p>
            <a:pPr eaLnBrk="1" hangingPunct="1"/>
            <a:endParaRPr lang="en-US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 eaLnBrk="1" hangingPunct="1"/>
            <a:r>
              <a:rPr lang="en-US" dirty="0"/>
              <a:t>Limitations of Existing Systems</a:t>
            </a:r>
          </a:p>
        </p:txBody>
      </p:sp>
      <p:sp>
        <p:nvSpPr>
          <p:cNvPr id="8195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sz="2400" dirty="0"/>
              <a:t>Despite their usefulness, existing systems have limitations: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2400" dirty="0"/>
              <a:t>No proper doctor involvement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2400" dirty="0"/>
              <a:t>Cannot safely manage severe mental health cases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2400" dirty="0"/>
              <a:t>Limited psychological risk assessment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2400" dirty="0"/>
              <a:t>Mostly provide general advice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2400" dirty="0"/>
              <a:t>Weak data continuity after subscription ends</a:t>
            </a:r>
          </a:p>
          <a:p>
            <a:pPr marL="0" indent="0">
              <a:buNone/>
            </a:pPr>
            <a:r>
              <a:rPr lang="en-GB" sz="2400" dirty="0"/>
              <a:t>These limitations reduce reliability in critical situations</a:t>
            </a:r>
          </a:p>
          <a:p>
            <a:pPr eaLnBrk="1" hangingPunct="1"/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120529413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dirty="0"/>
              <a:t>Problem Statement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 eaLnBrk="1" hangingPunct="1"/>
            <a:r>
              <a:rPr lang="en-US" dirty="0"/>
              <a:t>Problem Statement</a:t>
            </a:r>
          </a:p>
        </p:txBody>
      </p:sp>
      <p:sp>
        <p:nvSpPr>
          <p:cNvPr id="1024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Current Risk:</a:t>
            </a:r>
            <a:r>
              <a:rPr lang="en-US" dirty="0"/>
              <a:t> </a:t>
            </a:r>
          </a:p>
          <a:p>
            <a:pPr marL="0" indent="0">
              <a:buNone/>
            </a:pPr>
            <a:r>
              <a:rPr lang="en-US" dirty="0"/>
              <a:t>Automated AI systems lack the human supervision necessary for high-stakes mental health conditions.</a:t>
            </a:r>
          </a:p>
          <a:p>
            <a:pPr marL="0" indent="0">
              <a:buNone/>
            </a:pPr>
            <a:r>
              <a:rPr lang="en-GB" dirty="0"/>
              <a:t>There is a need for a system that combines AI</a:t>
            </a:r>
          </a:p>
          <a:p>
            <a:pPr marL="0" indent="0">
              <a:buNone/>
            </a:pPr>
            <a:r>
              <a:rPr lang="en-GB" dirty="0"/>
              <a:t>therapy with professional medical oversight.</a:t>
            </a:r>
            <a:endParaRPr lang="en-US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A38EDD-8B51-4A18-931F-E81850B4AA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761999"/>
            <a:ext cx="8229600" cy="4783017"/>
          </a:xfrm>
        </p:spPr>
        <p:txBody>
          <a:bodyPr/>
          <a:lstStyle/>
          <a:p>
            <a:r>
              <a:rPr lang="en-GB" sz="2800" dirty="0"/>
              <a:t>Mental health issues are increasing, but professional help is not easily available</a:t>
            </a:r>
          </a:p>
          <a:p>
            <a:r>
              <a:rPr lang="en-GB" sz="2800" dirty="0"/>
              <a:t>Therapy sessions are expensive and time-consuming</a:t>
            </a:r>
          </a:p>
          <a:p>
            <a:r>
              <a:rPr lang="en-GB" sz="2800" dirty="0"/>
              <a:t>There are not enough therapists to support everyone</a:t>
            </a:r>
          </a:p>
          <a:p>
            <a:r>
              <a:rPr lang="en-GB" sz="2800" dirty="0"/>
              <a:t>Existing AI mental health chatbots: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GB" sz="2400" dirty="0"/>
              <a:t>Work without proper human supervision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GB" sz="2400" dirty="0"/>
              <a:t>Cannot safely handle severe or crisis cases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GB" sz="2400" dirty="0"/>
              <a:t>Do not properly assess psychological risk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95261533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dirty="0"/>
              <a:t>Proposed Solution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 eaLnBrk="1" hangingPunct="1"/>
            <a:r>
              <a:rPr lang="en-US" dirty="0"/>
              <a:t>Proposed Solution</a:t>
            </a:r>
          </a:p>
        </p:txBody>
      </p:sp>
      <p:sp>
        <p:nvSpPr>
          <p:cNvPr id="12291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dirty="0" err="1"/>
              <a:t>SereneMind</a:t>
            </a:r>
            <a:r>
              <a:rPr lang="en-GB" dirty="0"/>
              <a:t> is an </a:t>
            </a:r>
            <a:r>
              <a:rPr lang="en-GB" b="1" dirty="0"/>
              <a:t>AI-powered mental health platform</a:t>
            </a:r>
            <a:r>
              <a:rPr lang="en-GB" dirty="0"/>
              <a:t> that provides real-time therapy while ensuring safety through </a:t>
            </a:r>
            <a:r>
              <a:rPr lang="en-GB" b="1" dirty="0"/>
              <a:t>crisis detection and doctor escalation mechanism</a:t>
            </a:r>
            <a:r>
              <a:rPr lang="en-GB" dirty="0"/>
              <a:t>.</a:t>
            </a:r>
          </a:p>
          <a:p>
            <a:pPr marL="0" indent="0">
              <a:buNone/>
            </a:pPr>
            <a:r>
              <a:rPr lang="en-GB" dirty="0"/>
              <a:t>The system supports users daily and escalates critical cases to professionals.</a:t>
            </a:r>
          </a:p>
          <a:p>
            <a:pPr marL="0" indent="0" eaLnBrk="1" hangingPunct="1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0B88A6-3DFC-49CF-84AE-08DCC58F15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990599"/>
            <a:ext cx="8229600" cy="4648201"/>
          </a:xfrm>
        </p:spPr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GB" sz="2800" dirty="0"/>
              <a:t>Conversational AI therapist available 24/7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2800" dirty="0"/>
              <a:t>Emotion and sentiment analysis during conversations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2800" dirty="0"/>
              <a:t>Personalized therapy responses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da-DK" sz="2800" dirty="0"/>
              <a:t>Natural language processing (NLP) for understanding user messages</a:t>
            </a:r>
            <a:endParaRPr lang="en-GB" sz="2800" dirty="0"/>
          </a:p>
          <a:p>
            <a:pPr>
              <a:buFont typeface="Arial" panose="020B0604020202020204" pitchFamily="34" charset="0"/>
              <a:buChar char="•"/>
            </a:pPr>
            <a:r>
              <a:rPr lang="en-GB" sz="2800" dirty="0"/>
              <a:t>CBT-based exercises and journaling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2800" dirty="0"/>
              <a:t>Multi-language support</a:t>
            </a:r>
          </a:p>
          <a:p>
            <a:pPr marL="0" indent="0">
              <a:buNone/>
            </a:pPr>
            <a:r>
              <a:rPr lang="en-GB" sz="2800" dirty="0"/>
              <a:t>The AI assists users but does not replace human doctors.</a:t>
            </a:r>
          </a:p>
          <a:p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300789549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0B88A6-3DFC-49CF-84AE-08DCC58F15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990599"/>
            <a:ext cx="8229600" cy="4648201"/>
          </a:xfrm>
        </p:spPr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First-time psychological risk assessment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Risk classification (Low, Medium, High)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Automatic report generation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Secure escalation to licensed doctors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Crisis mode with emergency helplines</a:t>
            </a:r>
          </a:p>
          <a:p>
            <a:pPr marL="0" indent="0">
              <a:buNone/>
            </a:pPr>
            <a:r>
              <a:rPr lang="en-GB" dirty="0"/>
              <a:t>This ensures </a:t>
            </a:r>
            <a:r>
              <a:rPr lang="en-GB" b="1" dirty="0"/>
              <a:t>user safety and ethical responsibility</a:t>
            </a:r>
            <a:r>
              <a:rPr lang="en-GB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18268250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dirty="0"/>
              <a:t>Project Scope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 eaLnBrk="1" hangingPunct="1"/>
            <a:r>
              <a:rPr lang="en-US" b="1" dirty="0"/>
              <a:t>Project Scope (In Scope)</a:t>
            </a:r>
            <a:endParaRPr lang="en-US" dirty="0"/>
          </a:p>
        </p:txBody>
      </p:sp>
      <p:sp>
        <p:nvSpPr>
          <p:cNvPr id="14339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AI-powered therapy chatbot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Psychological analysis and reporting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Doctor escalation system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Subscription and user management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Mood tracking and progress dashboard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Data export and re-import functionality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Web and mobile platform support</a:t>
            </a:r>
          </a:p>
          <a:p>
            <a:pPr marL="0" indent="0" eaLnBrk="1" hangingPunct="1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 eaLnBrk="1" hangingPunct="1"/>
            <a:r>
              <a:rPr lang="en-US" b="1" dirty="0"/>
              <a:t>Project Scope (Out of Scope)</a:t>
            </a:r>
            <a:endParaRPr lang="en-US" dirty="0"/>
          </a:p>
        </p:txBody>
      </p:sp>
      <p:sp>
        <p:nvSpPr>
          <p:cNvPr id="14339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AI prescribing medication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Replacing licensed therapists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Physical medical treatment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Emergency services beyond digital assistance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Use of data without user consent</a:t>
            </a:r>
          </a:p>
          <a:p>
            <a:pPr marL="0" indent="0" eaLnBrk="1" hangingPunct="1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7108796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1E51DDD-54DB-403C-B7EA-918283450BC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22313" y="1917700"/>
            <a:ext cx="7772400" cy="1530535"/>
          </a:xfrm>
        </p:spPr>
        <p:txBody>
          <a:bodyPr/>
          <a:lstStyle/>
          <a:p>
            <a:pPr algn="ctr"/>
            <a:r>
              <a:rPr lang="en-US" sz="5400" b="1" dirty="0">
                <a:solidFill>
                  <a:schemeClr val="tx1"/>
                </a:solidFill>
              </a:rPr>
              <a:t>Q&amp;A?</a:t>
            </a:r>
          </a:p>
        </p:txBody>
      </p:sp>
    </p:spTree>
    <p:extLst>
      <p:ext uri="{BB962C8B-B14F-4D97-AF65-F5344CB8AC3E}">
        <p14:creationId xmlns:p14="http://schemas.microsoft.com/office/powerpoint/2010/main" val="142527761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1E51DDD-54DB-403C-B7EA-918283450BC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22313" y="1917700"/>
            <a:ext cx="7772400" cy="1816100"/>
          </a:xfrm>
        </p:spPr>
        <p:txBody>
          <a:bodyPr/>
          <a:lstStyle/>
          <a:p>
            <a:pPr algn="ctr"/>
            <a:r>
              <a:rPr lang="en-US" sz="5400" b="1" dirty="0">
                <a:solidFill>
                  <a:schemeClr val="tx1"/>
                </a:solidFill>
              </a:rPr>
              <a:t>Thank</a:t>
            </a:r>
            <a:br>
              <a:rPr lang="en-US" sz="5400" b="1" dirty="0">
                <a:solidFill>
                  <a:schemeClr val="tx1"/>
                </a:solidFill>
              </a:rPr>
            </a:br>
            <a:r>
              <a:rPr lang="en-US" sz="5400" b="1" dirty="0">
                <a:solidFill>
                  <a:schemeClr val="tx1"/>
                </a:solidFill>
              </a:rPr>
              <a:t>you</a:t>
            </a:r>
          </a:p>
        </p:txBody>
      </p:sp>
    </p:spTree>
    <p:extLst>
      <p:ext uri="{BB962C8B-B14F-4D97-AF65-F5344CB8AC3E}">
        <p14:creationId xmlns:p14="http://schemas.microsoft.com/office/powerpoint/2010/main" val="66408492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293</TotalTime>
  <Words>500</Words>
  <Application>Microsoft Office PowerPoint</Application>
  <PresentationFormat>On-screen Show (4:3)</PresentationFormat>
  <Paragraphs>97</Paragraphs>
  <Slides>21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5" baseType="lpstr">
      <vt:lpstr>Arial</vt:lpstr>
      <vt:lpstr>Calibri</vt:lpstr>
      <vt:lpstr>Google Sans</vt:lpstr>
      <vt:lpstr>Office Theme</vt:lpstr>
      <vt:lpstr>Final Year Project Proposal</vt:lpstr>
      <vt:lpstr>Project Team</vt:lpstr>
      <vt:lpstr>Table of Content</vt:lpstr>
      <vt:lpstr>Opportunity &amp; Stakeholders</vt:lpstr>
      <vt:lpstr>Opportunity</vt:lpstr>
      <vt:lpstr>Stakeholders</vt:lpstr>
      <vt:lpstr>Existing Systems</vt:lpstr>
      <vt:lpstr>Existing Systems</vt:lpstr>
      <vt:lpstr>Limitations of Existing Systems</vt:lpstr>
      <vt:lpstr>Problem Statement</vt:lpstr>
      <vt:lpstr>Problem Statement</vt:lpstr>
      <vt:lpstr>PowerPoint Presentation</vt:lpstr>
      <vt:lpstr>Proposed Solution</vt:lpstr>
      <vt:lpstr>Proposed Solution</vt:lpstr>
      <vt:lpstr>PowerPoint Presentation</vt:lpstr>
      <vt:lpstr>PowerPoint Presentation</vt:lpstr>
      <vt:lpstr>Project Scope</vt:lpstr>
      <vt:lpstr>Project Scope (In Scope)</vt:lpstr>
      <vt:lpstr>Project Scope (Out of Scope)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Final Year Project Proposal</dc:title>
  <dc:creator>Khan</dc:creator>
  <cp:lastModifiedBy>Mr. Islamabad</cp:lastModifiedBy>
  <cp:revision>30</cp:revision>
  <dcterms:created xsi:type="dcterms:W3CDTF">2013-01-22T07:04:44Z</dcterms:created>
  <dcterms:modified xsi:type="dcterms:W3CDTF">2026-02-16T04:22:11Z</dcterms:modified>
</cp:coreProperties>
</file>